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D83E-5949-30AC-5F3D-71408F953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055A9-E390-814B-D7F3-97924B14C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6186B-13CE-4681-7B87-C881CED9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B7F27-EA24-CC0F-8B0E-51E3F4B2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7DC3B-A7A5-3ACA-0A89-010F6BDB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9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FDA3-2116-2A2C-F8EF-0984F846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D498F-B336-3E76-51B9-A77E7E1E7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06808-9BFB-8700-EFA3-E5CEBC02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ACE37-EEFB-DFCF-F678-2A55BFD4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5F529-95A6-B825-5F56-5AEE871F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A3D5-CF2A-D1B7-FB5D-AB79EF5F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09D90-091A-EA43-F5C1-1161E69E3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313E9-88EB-B8AD-93DF-F7C9949D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8D8E9-E0F2-4982-97C6-0791560EE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BC7C-BC47-5C63-EBF2-CD8A3F42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4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4B16-6D17-8A7E-E084-CE67EABE2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1E3BE-2F46-A170-F161-0183657A4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EB6F7-8810-8434-61CB-179E0AE99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55452-8BE8-1097-9821-109195E5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1F871-55CA-9D82-E05F-F05113DB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2A5DB-C737-0C7E-91FA-AD1A21C3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4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D717-C736-FB2A-3CD7-A12F4903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5215A-4492-2D66-685D-22CD6AF9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67CBB-1B57-81B7-425B-D42F7AF7F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3E0F8-FD91-0C17-4409-2A9771216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22CBD-1E19-65D6-5520-A6BFAF0A7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084C7-7506-AF32-50E0-FA22B303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E66C2E-34C4-A250-1343-C9D63A36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DF862-9B38-1707-0D62-039D1872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4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CAF8-87B9-6C4C-F80D-C4EBF13B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BEE14-3225-2675-6C34-DB325390C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9591E-DC74-19F1-0F5B-53A1A1EA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0DCF6-D623-AAAD-B489-2BC3FF9D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5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6F877-84B4-D3C2-7EDE-CE678DE1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68993-B8B1-E2B9-3168-65C43DDA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B9BA2-ED41-4EAE-0E87-1F70B1D4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8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E1C5-3296-2211-58EA-01C815D5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3FFFF-121A-0E01-8C04-389153FCD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3D791-305D-710F-5707-4D9F667DE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76533-592F-5C9E-25E0-FE2A0D2C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7CF47-7A1C-6C43-4A93-B1FF9ECB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143E4-F33B-22C2-45D8-B559A0E0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2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8C44-83CB-78CF-827B-C0F1D17C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E484F-B774-A7AD-6357-93201BD5D2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18FE-F899-8E0B-074D-7EEB9A9ED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AD1C9-FD88-FF18-D0A9-EC4226EC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FBB73-F88C-710C-D59B-BCF9DE54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D45D3-6B19-CBE2-7B20-0E635102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5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2539-D4ED-733A-67FD-92F7F4E9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1B864-6D0B-9B27-A558-A1B1ED2B9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A5AE6-51FE-834C-C0D3-0F984E27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0C6-EF3C-286F-7685-05F29DE6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D019C-2E97-0E2E-7012-E0F2534E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0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11BD4-AA8D-1FAB-04E0-951E332B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23702-F552-85EB-C3DB-6F6D9A85A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87EFC-CCC6-19FB-3D6B-12AEB6FB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4290F-459A-DDA3-8820-69FB2B9F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57228-9BE2-5162-C8B4-CCCE60E9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0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4C2DB-67DF-5D18-26A0-4C1C0675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FDFCE-496C-2DA3-9595-1A2CED44C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D77EE-B670-BF9E-29B9-6433490EB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5D58B-AECD-418C-810D-E514A8C5709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E2551-5CD4-D0B3-8DB7-DB1CB379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C95F0-E282-75CD-96B0-020224AB3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6E49E-8D1F-42F7-8463-97ECE7D1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8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microsoft.com/office/2007/relationships/hdphoto" Target="../media/hdphoto4.wdp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64C2-C09F-B5AD-F45E-665F85AB4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0757"/>
          </a:xfrm>
        </p:spPr>
        <p:txBody>
          <a:bodyPr/>
          <a:lstStyle/>
          <a:p>
            <a:r>
              <a:rPr lang="en-US" dirty="0"/>
              <a:t>Radiation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66B03-584C-7719-496B-1D7D44895C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Afnan Hasan</a:t>
            </a:r>
          </a:p>
          <a:p>
            <a:r>
              <a:rPr lang="en-US" dirty="0"/>
              <a:t>Assistant Professor </a:t>
            </a:r>
          </a:p>
          <a:p>
            <a:r>
              <a:rPr lang="en-US" dirty="0"/>
              <a:t>Department of Mechanical Engineering </a:t>
            </a:r>
          </a:p>
          <a:p>
            <a:r>
              <a:rPr lang="en-US" dirty="0"/>
              <a:t>Chittagong University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47498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6399C7-4850-79DD-6135-D22E8190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705177"/>
            <a:ext cx="1092200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FACTOR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Radiative heat transfer between surfaces depends on their temperatures, material characteristics, and how they are positioned relative to each other.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Sitting near a fire 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You feel much warmer when you face the fire directly than when you turn sideways or sit behind someone, because more radiation reaches you when you’re directly exposed.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Solar panels 🌞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Panels are tilted to face the sun directly to maximize the amount of radiation they absorb; if they are misaligned, their efficiency drops.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Heater in a room 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You feel warmer sitting directly in front of a heater than sitting off to the side, because the radiation is strongest along the direct line of sight.</a:t>
            </a:r>
          </a:p>
        </p:txBody>
      </p:sp>
    </p:spTree>
    <p:extLst>
      <p:ext uri="{BB962C8B-B14F-4D97-AF65-F5344CB8AC3E}">
        <p14:creationId xmlns:p14="http://schemas.microsoft.com/office/powerpoint/2010/main" val="361430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69DB370-7125-118B-A8AC-7A8D55B9F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159" y="3848312"/>
            <a:ext cx="3113722" cy="29501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C1F63D-67FD-F8E1-0748-F02BFC348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13" y="896582"/>
            <a:ext cx="1076877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include the effect of how surfaces are positioned relative to each other in radiation heat transfer, a parameter called the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factor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introduced. This factor depends only on geometry and does not depend on the materials or temperatures of the surfaces. It is also known as the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shape factor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factor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angle factor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06EF7-C20E-E38C-1A5C-D9E154C9EB09}"/>
              </a:ext>
            </a:extLst>
          </p:cNvPr>
          <p:cNvSpPr txBox="1"/>
          <p:nvPr/>
        </p:nvSpPr>
        <p:spPr>
          <a:xfrm>
            <a:off x="711613" y="23697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FACTOR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6314C-B8CF-1E2A-EC54-93D62344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842" y="2571852"/>
            <a:ext cx="3673158" cy="2552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70E8B6-6829-3C91-CCD8-8191D9D426D7}"/>
              </a:ext>
            </a:extLst>
          </p:cNvPr>
          <p:cNvSpPr txBox="1"/>
          <p:nvPr/>
        </p:nvSpPr>
        <p:spPr>
          <a:xfrm>
            <a:off x="711612" y="2721114"/>
            <a:ext cx="80564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factor from a surface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surface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denoted by </a:t>
            </a:r>
          </a:p>
          <a:p>
            <a:pPr algn="just"/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400" b="0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just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400" b="0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is defined as</a:t>
            </a:r>
          </a:p>
          <a:p>
            <a:pPr algn="just"/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400" b="0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 = 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fraction of the radiation leaving surface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strikes surface j directly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0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DC8C-FDE3-9DE1-28B3-ABB49AC2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D08AF5-01C0-2D2B-B75D-86D23D662C94}"/>
              </a:ext>
            </a:extLst>
          </p:cNvPr>
          <p:cNvSpPr txBox="1"/>
          <p:nvPr/>
        </p:nvSpPr>
        <p:spPr>
          <a:xfrm>
            <a:off x="88643" y="53127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FACTOR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B7392-4858-CECA-EA40-3B4AA56391AE}"/>
              </a:ext>
            </a:extLst>
          </p:cNvPr>
          <p:cNvSpPr txBox="1"/>
          <p:nvPr/>
        </p:nvSpPr>
        <p:spPr>
          <a:xfrm>
            <a:off x="0" y="693783"/>
            <a:ext cx="11935204" cy="2371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marR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view</a:t>
            </a:r>
            <a:r>
              <a:rPr lang="en-US" sz="18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factor/ shape factor</a:t>
            </a:r>
            <a:r>
              <a:rPr lang="en-US" sz="1800" b="1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defined</a:t>
            </a:r>
            <a:r>
              <a:rPr lang="en-US" sz="18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fraction</a:t>
            </a:r>
            <a:r>
              <a:rPr lang="en-US" sz="1800" b="1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radiation </a:t>
            </a:r>
            <a:r>
              <a:rPr lang="en-US" sz="1800" spc="-4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leaving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 is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intercepted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76200" marR="0" algn="just">
              <a:spcBef>
                <a:spcPts val="57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Arbitrarily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oriented surfaces</a:t>
            </a:r>
          </a:p>
          <a:p>
            <a:pPr marL="76200" marR="995680" algn="just">
              <a:lnSpc>
                <a:spcPct val="128000"/>
              </a:lnSpc>
              <a:spcBef>
                <a:spcPts val="595"/>
              </a:spcBef>
              <a:spcAft>
                <a:spcPts val="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Elemental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 A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respectively.</a:t>
            </a:r>
            <a:r>
              <a:rPr lang="en-US" sz="1800" spc="-4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76200" marR="995680" algn="just">
              <a:lnSpc>
                <a:spcPct val="128000"/>
              </a:lnSpc>
              <a:spcBef>
                <a:spcPts val="595"/>
              </a:spcBef>
              <a:spcAft>
                <a:spcPts val="1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connecting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spc="-5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76200" marR="0" algn="just">
              <a:spcBef>
                <a:spcPts val="5"/>
              </a:spcBef>
              <a:spcAft>
                <a:spcPts val="1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connected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forms</a:t>
            </a:r>
            <a:r>
              <a:rPr lang="en-US" sz="1800" spc="1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polar</a:t>
            </a:r>
            <a:r>
              <a:rPr lang="en-US" sz="1800" spc="1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angles</a:t>
            </a:r>
            <a:r>
              <a:rPr lang="en-US" sz="1800" spc="2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q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2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q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8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4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</a:t>
            </a:r>
            <a:r>
              <a:rPr lang="en-US" sz="18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normals</a:t>
            </a:r>
            <a:r>
              <a:rPr lang="en-US" sz="18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respectively.</a:t>
            </a:r>
            <a:r>
              <a:rPr lang="en-US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values</a:t>
            </a:r>
            <a:r>
              <a:rPr lang="en-US" sz="18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R,</a:t>
            </a:r>
            <a:r>
              <a:rPr lang="en-US" sz="18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q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z="1800" dirty="0" err="1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q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vary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position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elemental areas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D95000-639C-AF6A-A31C-F6386093A5BB}"/>
              </a:ext>
            </a:extLst>
          </p:cNvPr>
          <p:cNvGrpSpPr/>
          <p:nvPr/>
        </p:nvGrpSpPr>
        <p:grpSpPr>
          <a:xfrm>
            <a:off x="251203" y="3311511"/>
            <a:ext cx="6271517" cy="3114380"/>
            <a:chOff x="-2" y="3179687"/>
            <a:chExt cx="5803644" cy="298106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E4B6BE-37DD-59EE-3CD0-D211D30BB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" y="3179687"/>
              <a:ext cx="5803644" cy="298106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4CF3AE-50E4-59EF-AA96-5629F4341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6788" y="5489854"/>
              <a:ext cx="2250903" cy="63116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BE742E-5945-139D-94F3-A8F3FFF3C6AC}"/>
              </a:ext>
            </a:extLst>
          </p:cNvPr>
          <p:cNvGrpSpPr/>
          <p:nvPr/>
        </p:nvGrpSpPr>
        <p:grpSpPr>
          <a:xfrm>
            <a:off x="7873861" y="3178196"/>
            <a:ext cx="4318139" cy="3247695"/>
            <a:chOff x="5803644" y="3395700"/>
            <a:chExt cx="3340356" cy="324769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04572D-21A2-60DC-0FF9-0D1D247F3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3644" y="3395700"/>
              <a:ext cx="3340356" cy="290190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F594DEA-E4AA-1F75-3A28-E5A953560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05262" y="5369398"/>
              <a:ext cx="2031335" cy="12739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780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DEC1-BA9D-2A3C-18BF-4CF811E1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CC91FD-8E72-8AEA-AD38-4A64CF71DE66}"/>
              </a:ext>
            </a:extLst>
          </p:cNvPr>
          <p:cNvSpPr txBox="1"/>
          <p:nvPr/>
        </p:nvSpPr>
        <p:spPr>
          <a:xfrm>
            <a:off x="1066800" y="0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FACTOR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6CFFC8-DA07-BB90-3E1E-B1EAB812C8AB}"/>
              </a:ext>
            </a:extLst>
          </p:cNvPr>
          <p:cNvGrpSpPr/>
          <p:nvPr/>
        </p:nvGrpSpPr>
        <p:grpSpPr>
          <a:xfrm>
            <a:off x="1066800" y="567877"/>
            <a:ext cx="5759218" cy="6195525"/>
            <a:chOff x="-2" y="195943"/>
            <a:chExt cx="5759218" cy="61955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23FA1F7-425D-1E43-3591-3405B729C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" y="195943"/>
              <a:ext cx="5759218" cy="4114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168DC12-6D71-8690-9583-25F4C8FD0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95337"/>
              <a:ext cx="2962000" cy="199613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768E12-3EF1-C082-C742-9CEC373FF205}"/>
              </a:ext>
            </a:extLst>
          </p:cNvPr>
          <p:cNvGrpSpPr/>
          <p:nvPr/>
        </p:nvGrpSpPr>
        <p:grpSpPr>
          <a:xfrm>
            <a:off x="7784844" y="1614174"/>
            <a:ext cx="3340356" cy="3247695"/>
            <a:chOff x="5803644" y="3395700"/>
            <a:chExt cx="3340356" cy="324769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EAEFF05-2093-9B52-6E3C-80D9F9F5C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3644" y="3395700"/>
              <a:ext cx="3340356" cy="290190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3288002-6339-562E-59C5-C2B196233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05262" y="5369398"/>
              <a:ext cx="2031335" cy="1273997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FEFC1E8-D9DA-FB83-A762-63D84624EF79}"/>
              </a:ext>
            </a:extLst>
          </p:cNvPr>
          <p:cNvSpPr txBox="1"/>
          <p:nvPr/>
        </p:nvSpPr>
        <p:spPr>
          <a:xfrm>
            <a:off x="4435622" y="5765336"/>
            <a:ext cx="7455156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relations confirm that the view factor between two surfaces depends on their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orientation and the distance between them.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75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A54A-D78B-6730-C8F3-F67B593E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18B7B3-1596-E872-9173-158FF66EC8A7}"/>
              </a:ext>
            </a:extLst>
          </p:cNvPr>
          <p:cNvSpPr txBox="1"/>
          <p:nvPr/>
        </p:nvSpPr>
        <p:spPr>
          <a:xfrm>
            <a:off x="529521" y="118781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FACTOR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D5857-61C8-736E-95F0-EF590530A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396" y="0"/>
            <a:ext cx="2410885" cy="37909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AA71BF-3B51-EF41-DE2B-F6811622C7C5}"/>
              </a:ext>
            </a:extLst>
          </p:cNvPr>
          <p:cNvSpPr txBox="1"/>
          <p:nvPr/>
        </p:nvSpPr>
        <p:spPr>
          <a:xfrm>
            <a:off x="529521" y="1240568"/>
            <a:ext cx="83553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absence of strong electromagnetic fields radiation beams travel in straight paths, the view factor from a surface to itself is zero unless the surface “sees” itself. Therefore,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0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 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= 0 for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convex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 and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0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 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≠ 0 for concave surfaces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E366B-A712-8362-561F-342075F91012}"/>
              </a:ext>
            </a:extLst>
          </p:cNvPr>
          <p:cNvSpPr txBox="1"/>
          <p:nvPr/>
        </p:nvSpPr>
        <p:spPr>
          <a:xfrm>
            <a:off x="504121" y="3805909"/>
            <a:ext cx="11250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the view factor ranges between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one.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limiting case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0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 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= 0 indicates that the two surfaces do not have a direct view of each other, and thus radiation leaving surface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strike surface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directly. The other limiting case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 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= 1 indicates that surface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surrounds surface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all radiation leaving surface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intercepted by surface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 a geometry consisting of two concentric spheres, all radiation leaving the surface of the smaller sphere (surface 1) strikes the larger sphere (surface 2), and thus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2  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= 1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84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19371B6-03E7-7554-C092-EE610F50E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5091" y="1515625"/>
            <a:ext cx="2138263" cy="26913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9B31C7-CDFA-4264-F754-D07F7DAB33D7}"/>
              </a:ext>
            </a:extLst>
          </p:cNvPr>
          <p:cNvSpPr txBox="1"/>
          <p:nvPr/>
        </p:nvSpPr>
        <p:spPr>
          <a:xfrm>
            <a:off x="0" y="105621"/>
            <a:ext cx="6169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View factor relations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4066C-C73F-22C8-DC5F-E60F06A9E6D8}"/>
              </a:ext>
            </a:extLst>
          </p:cNvPr>
          <p:cNvSpPr txBox="1"/>
          <p:nvPr/>
        </p:nvSpPr>
        <p:spPr>
          <a:xfrm>
            <a:off x="88642" y="567286"/>
            <a:ext cx="1210335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595"/>
              </a:spcBef>
              <a:spcAft>
                <a:spcPts val="0"/>
              </a:spcAft>
              <a:buSzPts val="1800"/>
              <a:tabLst>
                <a:tab pos="592455" algn="l"/>
              </a:tabLst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1. Reciprocity</a:t>
            </a:r>
            <a:r>
              <a:rPr lang="en-US" sz="1800" b="1" spc="-35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relation</a:t>
            </a:r>
            <a:r>
              <a:rPr lang="en-US" sz="1800" b="1" spc="1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</a:p>
          <a:p>
            <a:pPr marR="0" lvl="0">
              <a:spcBef>
                <a:spcPts val="595"/>
              </a:spcBef>
              <a:spcAft>
                <a:spcPts val="0"/>
              </a:spcAft>
              <a:buSzPts val="1800"/>
              <a:tabLst>
                <a:tab pos="592455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</a:t>
            </a:r>
            <a:r>
              <a:rPr lang="en-US" sz="1800" spc="-17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j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=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j</a:t>
            </a:r>
            <a:r>
              <a:rPr lang="en-US" sz="18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F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j</a:t>
            </a:r>
            <a:r>
              <a:rPr lang="en-US" sz="1800" spc="-17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pc="-175" baseline="-25000" dirty="0" err="1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</a:t>
            </a:r>
            <a:endParaRPr lang="en-US" spc="-175" baseline="-25000" dirty="0"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R="0" lvl="0" algn="just">
              <a:spcBef>
                <a:spcPts val="595"/>
              </a:spcBef>
              <a:spcAft>
                <a:spcPts val="0"/>
              </a:spcAft>
              <a:buSzPts val="1800"/>
              <a:tabLst>
                <a:tab pos="592455" algn="l"/>
              </a:tabLst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This relation is referred to as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Bold"/>
              </a:rPr>
              <a:t>reciprocity relation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or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Bold"/>
              </a:rPr>
              <a:t>reciprocity rule,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and it enables us to determine the counterpart of a view factor from a knowledge of the view factor itself and the areas of the two surfaces</a:t>
            </a:r>
            <a:r>
              <a:rPr lang="en-US" dirty="0">
                <a:solidFill>
                  <a:srgbClr val="242021"/>
                </a:solidFill>
                <a:latin typeface="Times-Roman"/>
              </a:rPr>
              <a:t>.</a:t>
            </a:r>
            <a:endParaRPr lang="en-US" sz="1800" baseline="-250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3C632-B517-D35C-5723-69C0ACCA0C5B}"/>
              </a:ext>
            </a:extLst>
          </p:cNvPr>
          <p:cNvSpPr txBox="1"/>
          <p:nvPr/>
        </p:nvSpPr>
        <p:spPr>
          <a:xfrm>
            <a:off x="88646" y="2156162"/>
            <a:ext cx="978780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  <a:buSzPts val="1800"/>
              <a:tabLst>
                <a:tab pos="534035" algn="l"/>
              </a:tabLst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2. Summation</a:t>
            </a:r>
            <a:r>
              <a:rPr lang="en-US" sz="1800" b="1" spc="-7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rule</a:t>
            </a:r>
          </a:p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 conservation of energy principle requires that the entire radiation leaving any surface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Times-Italic"/>
              </a:rPr>
              <a:t>i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of an enclosure be intercepted by the surfaces of the enclosure. Therefore,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the sum of the view factors from surface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Times-Italic"/>
              </a:rPr>
              <a:t>i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 of an enclosure to all surfaces of the enclosure, including to itself, must equal unity.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This is known as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Bold"/>
              </a:rPr>
              <a:t>summation rule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for an enclosure. </a:t>
            </a:r>
            <a:br>
              <a:rPr lang="en-US" sz="1100" dirty="0"/>
            </a:br>
            <a:endParaRPr lang="en-US" sz="11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8E8C0-CC3C-7C12-7F07-9102613AB1EB}"/>
              </a:ext>
            </a:extLst>
          </p:cNvPr>
          <p:cNvSpPr txBox="1"/>
          <p:nvPr/>
        </p:nvSpPr>
        <p:spPr>
          <a:xfrm>
            <a:off x="88641" y="3370877"/>
            <a:ext cx="628016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935" marR="0">
              <a:lnSpc>
                <a:spcPts val="1095"/>
              </a:lnSpc>
              <a:spcBef>
                <a:spcPts val="835"/>
              </a:spcBef>
              <a:spcAft>
                <a:spcPts val="0"/>
              </a:spcAft>
            </a:pPr>
            <a:b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9850">
              <a:lnSpc>
                <a:spcPts val="2270"/>
              </a:lnSpc>
            </a:pPr>
            <a:r>
              <a:rPr lang="en-US" sz="2200" spc="-4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å</a:t>
            </a:r>
            <a:r>
              <a:rPr lang="en-US" sz="22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1200" i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i="1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i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200" i="1" spc="3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4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=</a:t>
            </a:r>
            <a:r>
              <a:rPr lang="en-US" sz="1800" spc="-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(Enclosure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surfaces)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3185" marR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200" i="1" spc="-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spc="-1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=</a:t>
            </a:r>
            <a:r>
              <a:rPr lang="en-US" sz="1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9AA10-E8EE-2855-48CE-125C4AC4DA64}"/>
              </a:ext>
            </a:extLst>
          </p:cNvPr>
          <p:cNvSpPr txBox="1"/>
          <p:nvPr/>
        </p:nvSpPr>
        <p:spPr>
          <a:xfrm>
            <a:off x="52149" y="4329635"/>
            <a:ext cx="81123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The Superposition Rule</a:t>
            </a:r>
          </a:p>
          <a:p>
            <a:r>
              <a:rPr lang="en-US" i="1" dirty="0">
                <a:solidFill>
                  <a:srgbClr val="242021"/>
                </a:solidFill>
                <a:latin typeface="Times-Italic"/>
              </a:rPr>
              <a:t>T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he view factor from a surface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Times-Italic"/>
              </a:rPr>
              <a:t>i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 to a surface j is equal to the sum of the view factors from surface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Times-Italic"/>
              </a:rPr>
              <a:t>i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 to the parts of surface j. </a:t>
            </a:r>
            <a:br>
              <a:rPr lang="en-US" dirty="0"/>
            </a:br>
            <a:br>
              <a:rPr lang="en-US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DDB578-D0A1-9902-D220-777EA7790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55" y="5437410"/>
            <a:ext cx="2593598" cy="312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2F050D-CFD1-0101-9C7D-2B86B9121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348" y="5749534"/>
            <a:ext cx="3991012" cy="503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48849D-3FFB-D379-A5D0-00863CC03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984" y="4158198"/>
            <a:ext cx="3991012" cy="21325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02B4CC-4429-F1CB-B4F1-E36710BC9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603" y="6167695"/>
            <a:ext cx="4298501" cy="4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2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800BB4-F160-AE1C-778C-12C8D87EB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893" y="77132"/>
            <a:ext cx="3791479" cy="10574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BEE617-C6E7-B92A-B6A6-8D320D9ACC96}"/>
              </a:ext>
            </a:extLst>
          </p:cNvPr>
          <p:cNvSpPr txBox="1"/>
          <p:nvPr/>
        </p:nvSpPr>
        <p:spPr>
          <a:xfrm>
            <a:off x="343903" y="957351"/>
            <a:ext cx="466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The Symmetry Rule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CBC09-EC1E-1BC8-2579-3547BBFCAF4A}"/>
              </a:ext>
            </a:extLst>
          </p:cNvPr>
          <p:cNvSpPr txBox="1"/>
          <p:nvPr/>
        </p:nvSpPr>
        <p:spPr>
          <a:xfrm>
            <a:off x="396240" y="1350510"/>
            <a:ext cx="799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242021"/>
                </a:solidFill>
                <a:latin typeface="Times-Roman"/>
              </a:rPr>
              <a:t>T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Bold"/>
              </a:rPr>
              <a:t>symmetry rule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can be expressed as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two (or more) surfaces that possess symmetry about a third surface will have identical view factors from that surface.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E8089-AB2B-CE4E-95F3-62EFAA29D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108" y="336856"/>
            <a:ext cx="3312364" cy="1979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52EEEE-1DEC-198A-8DE3-5FF88A33EB9C}"/>
              </a:ext>
            </a:extLst>
          </p:cNvPr>
          <p:cNvSpPr txBox="1"/>
          <p:nvPr/>
        </p:nvSpPr>
        <p:spPr>
          <a:xfrm>
            <a:off x="396240" y="2611121"/>
            <a:ext cx="11399520" cy="3693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radiation exchange in an enclosure of </a:t>
            </a:r>
            <a:r>
              <a:rPr lang="en-US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surfaces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total of </a:t>
            </a:r>
            <a:r>
              <a:rPr lang="en-US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0" baseline="3000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factors is needed. This requirement becomes evident when the view factors are arranged in the matrix form: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800" b="0" i="0" dirty="0">
              <a:solidFill>
                <a:srgbClr val="242021"/>
              </a:solidFill>
              <a:effectLst/>
              <a:latin typeface="Times-Roman"/>
            </a:endParaRPr>
          </a:p>
          <a:p>
            <a:pPr algn="just"/>
            <a:endParaRPr lang="en-US" dirty="0">
              <a:solidFill>
                <a:srgbClr val="242021"/>
              </a:solidFill>
              <a:latin typeface="Times-Roman"/>
            </a:endParaRPr>
          </a:p>
          <a:p>
            <a:pPr algn="just"/>
            <a:endParaRPr lang="en-US" dirty="0">
              <a:solidFill>
                <a:srgbClr val="242021"/>
              </a:solidFill>
              <a:latin typeface="Times-Roman"/>
            </a:endParaRPr>
          </a:p>
          <a:p>
            <a:pPr algn="just"/>
            <a:endParaRPr lang="en-US" dirty="0">
              <a:solidFill>
                <a:srgbClr val="242021"/>
              </a:solidFill>
              <a:latin typeface="Times-Roman"/>
            </a:endParaRPr>
          </a:p>
          <a:p>
            <a:pPr algn="just"/>
            <a:endParaRPr lang="en-US" sz="1800" b="0" i="0" dirty="0">
              <a:solidFill>
                <a:srgbClr val="242021"/>
              </a:solidFill>
              <a:effectLst/>
              <a:latin typeface="Times-Roman"/>
            </a:endParaRPr>
          </a:p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all the view factors need not be calculated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directly.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total of </a:t>
            </a:r>
            <a:r>
              <a:rPr lang="en-US" sz="1800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factors may be obtained from the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equations associated with application of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summation rule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surfaces in the enclosure.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</a:t>
            </a:r>
            <a:r>
              <a:rPr lang="en-US" sz="1800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factors may be obtained from the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of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reciprocity relation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are possible for the enclosure.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Accordingly, only [</a:t>
            </a:r>
            <a:r>
              <a:rPr lang="en-US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baseline="3000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–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)/2] = </a:t>
            </a:r>
            <a:r>
              <a:rPr lang="en-US" sz="1800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factors need be determined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00A11-4B3B-BFFC-7807-EBA8CA6F246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22812" y="3273497"/>
            <a:ext cx="1946375" cy="131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52D77-C1F4-075C-F655-18A49452168D}"/>
              </a:ext>
            </a:extLst>
          </p:cNvPr>
          <p:cNvSpPr txBox="1"/>
          <p:nvPr/>
        </p:nvSpPr>
        <p:spPr>
          <a:xfrm>
            <a:off x="0" y="81158"/>
            <a:ext cx="1210803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76200" marR="238760" algn="just">
              <a:spcBef>
                <a:spcPts val="595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 a diffuse circular disk of diameter D and area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plane diffuse surface of area A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&lt;&lt;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surfaces are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parallel, and A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located at a distance L from the center of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800" spc="-4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Obtain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expression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the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view factor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18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ij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012C9-E261-79A8-8486-F7CD445F1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489"/>
            <a:ext cx="7450686" cy="4116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0FAA66-93C9-956B-2425-E0A93F882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072153"/>
            <a:ext cx="5074182" cy="137654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2752534-3D88-DFDC-2314-2B9A34062710}"/>
              </a:ext>
            </a:extLst>
          </p:cNvPr>
          <p:cNvGrpSpPr/>
          <p:nvPr/>
        </p:nvGrpSpPr>
        <p:grpSpPr>
          <a:xfrm>
            <a:off x="8646159" y="1087237"/>
            <a:ext cx="3461871" cy="3586363"/>
            <a:chOff x="5962262" y="1592573"/>
            <a:chExt cx="3097760" cy="40185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CC2370-C3AC-A8F4-E06B-551A22795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2262" y="1592573"/>
              <a:ext cx="3097760" cy="401853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196883-B9D2-891A-DD1D-D7F249FA00B8}"/>
                </a:ext>
              </a:extLst>
            </p:cNvPr>
            <p:cNvSpPr txBox="1"/>
            <p:nvPr/>
          </p:nvSpPr>
          <p:spPr>
            <a:xfrm>
              <a:off x="7086600" y="2317699"/>
              <a:ext cx="2519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4605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2DE9D0-AB08-4BA4-A5E9-4AF1EEF00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18" y="534512"/>
            <a:ext cx="5113178" cy="55451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D0611A5-283A-2C4A-362B-3DB87B53E3B1}"/>
              </a:ext>
            </a:extLst>
          </p:cNvPr>
          <p:cNvGrpSpPr/>
          <p:nvPr/>
        </p:nvGrpSpPr>
        <p:grpSpPr>
          <a:xfrm>
            <a:off x="6919998" y="1123484"/>
            <a:ext cx="3097760" cy="4018538"/>
            <a:chOff x="5962262" y="1592573"/>
            <a:chExt cx="3097760" cy="40185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1D439A-9F39-9854-FDB0-98526B78F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62262" y="1592573"/>
              <a:ext cx="3097760" cy="401853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4DEAC4-1BCB-BE93-F2FC-5D2977F8D916}"/>
                </a:ext>
              </a:extLst>
            </p:cNvPr>
            <p:cNvSpPr txBox="1"/>
            <p:nvPr/>
          </p:nvSpPr>
          <p:spPr>
            <a:xfrm>
              <a:off x="7086600" y="2317699"/>
              <a:ext cx="2519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137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AD588-D901-1FEC-E4C2-CC7114EF1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77" y="0"/>
            <a:ext cx="5634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12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45724B-7594-2D54-5C42-8415F3E10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317" y="263823"/>
            <a:ext cx="6979366" cy="6056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BA1B46-F3AD-B35E-EA0D-B600D9B7D9FE}"/>
              </a:ext>
            </a:extLst>
          </p:cNvPr>
          <p:cNvSpPr txBox="1"/>
          <p:nvPr/>
        </p:nvSpPr>
        <p:spPr>
          <a:xfrm>
            <a:off x="3231433" y="6294936"/>
            <a:ext cx="6979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View factor between two aligned parallel rectangles of equal size.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027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3E0ED1-9A30-EFCA-79E8-6E820398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87" y="354216"/>
            <a:ext cx="7192379" cy="58015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7EC05E-6927-20EC-35F5-42D3B25743EC}"/>
              </a:ext>
            </a:extLst>
          </p:cNvPr>
          <p:cNvSpPr txBox="1"/>
          <p:nvPr/>
        </p:nvSpPr>
        <p:spPr>
          <a:xfrm>
            <a:off x="2367280" y="6211669"/>
            <a:ext cx="6902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View factor between two perpendicular rectangles with a common edge.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02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2B4B49-CFFF-4025-79E9-5E2B3E329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731" y="504058"/>
            <a:ext cx="6820852" cy="54395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A1BD00-2809-49E1-8CCF-F7A27B76BF66}"/>
              </a:ext>
            </a:extLst>
          </p:cNvPr>
          <p:cNvSpPr txBox="1"/>
          <p:nvPr/>
        </p:nvSpPr>
        <p:spPr>
          <a:xfrm>
            <a:off x="3561754" y="5886826"/>
            <a:ext cx="4660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View factor between two coaxial parallel disks.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889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CBD639-D9A9-7FD1-1F05-8136D4B2A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60" y="499014"/>
            <a:ext cx="9144000" cy="5075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26E2C6-A616-1039-231A-2E622EF4BF51}"/>
              </a:ext>
            </a:extLst>
          </p:cNvPr>
          <p:cNvSpPr txBox="1"/>
          <p:nvPr/>
        </p:nvSpPr>
        <p:spPr>
          <a:xfrm>
            <a:off x="1330960" y="5603632"/>
            <a:ext cx="91439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View factors for two concentric cylinders of finite length: (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a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) outer cylinder to inner cylinder; (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b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) outer cylinder to itself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60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289FF9-D4C3-4EE5-8406-9E5B19F3A6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5494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49DA6B-A335-A9A3-9612-818A9E4B6D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617"/>
          <a:stretch>
            <a:fillRect/>
          </a:stretch>
        </p:blipFill>
        <p:spPr>
          <a:xfrm>
            <a:off x="8410451" y="2224347"/>
            <a:ext cx="2795154" cy="31640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7D7ED5-7971-4072-8695-C5480F1C8A4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0" y="1549433"/>
            <a:ext cx="8512629" cy="526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65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B463BC-D682-40C3-0CCD-E8B902A41C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74078" cy="121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BBCADE-4804-27EC-CADB-D5DC51DD90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43405"/>
          <a:stretch>
            <a:fillRect/>
          </a:stretch>
        </p:blipFill>
        <p:spPr>
          <a:xfrm>
            <a:off x="401856" y="1219200"/>
            <a:ext cx="5147505" cy="3129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B08EE6-2612-7703-61A1-8B0A4EAB5F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715"/>
          <a:stretch>
            <a:fillRect/>
          </a:stretch>
        </p:blipFill>
        <p:spPr>
          <a:xfrm>
            <a:off x="5637885" y="1306285"/>
            <a:ext cx="6554115" cy="30472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ABB845-1933-5FDB-D5D5-4D27F7234EF4}"/>
              </a:ext>
            </a:extLst>
          </p:cNvPr>
          <p:cNvSpPr/>
          <p:nvPr/>
        </p:nvSpPr>
        <p:spPr>
          <a:xfrm>
            <a:off x="9046029" y="3581400"/>
            <a:ext cx="2873828" cy="947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69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E5647F-A1AE-6BD3-24C2-7E852A17E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85" y="0"/>
            <a:ext cx="7064829" cy="68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5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303E6B-DD44-2B0E-C8EE-0F0456CE43E8}"/>
              </a:ext>
            </a:extLst>
          </p:cNvPr>
          <p:cNvSpPr txBox="1"/>
          <p:nvPr/>
        </p:nvSpPr>
        <p:spPr>
          <a:xfrm>
            <a:off x="424543" y="221121"/>
            <a:ext cx="7903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HEAT TRANSFER: BLACK SURFACES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B354E5-1AA0-A691-37F2-16B5690A4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71" y="451953"/>
            <a:ext cx="3852679" cy="3189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60A5A3-68C5-8DD8-FCD3-0A85625BC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01" y="1216414"/>
            <a:ext cx="7197234" cy="1891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EFADD5-B62D-AC6C-E017-58602731C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1" y="3107871"/>
            <a:ext cx="7335399" cy="12706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09A39F-DC93-1A66-C377-72E53B5BB458}"/>
              </a:ext>
            </a:extLst>
          </p:cNvPr>
          <p:cNvSpPr txBox="1"/>
          <p:nvPr/>
        </p:nvSpPr>
        <p:spPr>
          <a:xfrm>
            <a:off x="513201" y="4378499"/>
            <a:ext cx="10840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consider an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enclosure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black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 maintained at specified temperatures. The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heat transfer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surface 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this enclosure is determined by adding up the net radiation heat transfers from</a:t>
            </a:r>
          </a:p>
          <a:p>
            <a:pPr algn="just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surfaces of the enclosure: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2044B2-C519-9212-EADA-3DD21BC69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041" y="5482717"/>
            <a:ext cx="5874078" cy="88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68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9C1BF-5DA7-9BF0-2FD8-20013D22C439}"/>
              </a:ext>
            </a:extLst>
          </p:cNvPr>
          <p:cNvSpPr txBox="1"/>
          <p:nvPr/>
        </p:nvSpPr>
        <p:spPr>
          <a:xfrm>
            <a:off x="424542" y="166692"/>
            <a:ext cx="10744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solidFill>
                  <a:srgbClr val="C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HEAT TRANSFER: DIFFUSE, GRAY SURFACES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97872-3074-1A78-FDB3-CCA5EB3B3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861" y="1555718"/>
            <a:ext cx="3993139" cy="3049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CC67F2-3C88-4ADD-4670-00DD3A2F9849}"/>
              </a:ext>
            </a:extLst>
          </p:cNvPr>
          <p:cNvSpPr txBox="1"/>
          <p:nvPr/>
        </p:nvSpPr>
        <p:spPr>
          <a:xfrm>
            <a:off x="598714" y="799649"/>
            <a:ext cx="110598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242021"/>
                </a:solidFill>
                <a:effectLst/>
                <a:latin typeface="Times-Roman"/>
              </a:rPr>
              <a:t>Surfaces emit radiation as well as reflect it, and thus the total radiation leaving a surface consists of </a:t>
            </a:r>
            <a:r>
              <a:rPr lang="en-US" sz="2000" b="1" i="0" dirty="0">
                <a:solidFill>
                  <a:srgbClr val="242021"/>
                </a:solidFill>
                <a:effectLst/>
                <a:latin typeface="Times-Roman"/>
              </a:rPr>
              <a:t>emitted and reflected parts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-Roman"/>
              </a:rPr>
              <a:t>. The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-Italic"/>
              </a:rPr>
              <a:t>total radiation energy leaving a surface per unit time and per unit area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-Roman"/>
              </a:rPr>
              <a:t>is the </a:t>
            </a:r>
            <a:r>
              <a:rPr lang="en-US" sz="2000" b="1" i="0" dirty="0">
                <a:solidFill>
                  <a:srgbClr val="242021"/>
                </a:solidFill>
                <a:effectLst/>
                <a:latin typeface="Times-Bold"/>
              </a:rPr>
              <a:t>radiosity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-Roman"/>
              </a:rPr>
              <a:t>and is denoted by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-Italic"/>
              </a:rPr>
              <a:t>J</a:t>
            </a:r>
            <a:r>
              <a:rPr lang="en-US" sz="2000" dirty="0"/>
              <a:t> 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21659E-B480-8BE6-8250-E19FAAEC6609}"/>
              </a:ext>
            </a:extLst>
          </p:cNvPr>
          <p:cNvSpPr txBox="1"/>
          <p:nvPr/>
        </p:nvSpPr>
        <p:spPr>
          <a:xfrm>
            <a:off x="513180" y="1925049"/>
            <a:ext cx="7564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For a surface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Times-Italic"/>
              </a:rPr>
              <a:t>i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that is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gray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and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opaque,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 radiosity can be expressed as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266633-72B5-F8A6-4F48-57B425434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48" y="2404118"/>
            <a:ext cx="6207143" cy="1715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8A3ACB-65E1-2DA3-1EE7-3129319F2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326" y="4377364"/>
            <a:ext cx="3677163" cy="543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4B9DD4-2B1D-56D8-B6F7-FB27761DE497}"/>
              </a:ext>
            </a:extLst>
          </p:cNvPr>
          <p:cNvSpPr txBox="1"/>
          <p:nvPr/>
        </p:nvSpPr>
        <p:spPr>
          <a:xfrm>
            <a:off x="328126" y="3959265"/>
            <a:ext cx="7894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For a surface that can be approximated as a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blackbody,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 radiosity relation reduces to</a:t>
            </a:r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7EA2D-DAA7-8B89-9FDF-F43132907A68}"/>
              </a:ext>
            </a:extLst>
          </p:cNvPr>
          <p:cNvSpPr txBox="1"/>
          <p:nvPr/>
        </p:nvSpPr>
        <p:spPr>
          <a:xfrm>
            <a:off x="424542" y="5178355"/>
            <a:ext cx="11473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That is,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the radiosity of a blackbody is equal to its emissive power.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This is expected, since a blackbody does not reflect any radiation, and thus radiation coming from a blackbody is due to emission only.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4931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E830D7-6E8B-9A5E-FD2F-A51B9BBBE9E6}"/>
              </a:ext>
            </a:extLst>
          </p:cNvPr>
          <p:cNvSpPr txBox="1"/>
          <p:nvPr/>
        </p:nvSpPr>
        <p:spPr>
          <a:xfrm>
            <a:off x="631371" y="207219"/>
            <a:ext cx="8610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Radiation Heat Transfer to or from a Surface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1E6CB-5B28-E3C5-CEBB-8ACF3A3190F6}"/>
              </a:ext>
            </a:extLst>
          </p:cNvPr>
          <p:cNvSpPr txBox="1"/>
          <p:nvPr/>
        </p:nvSpPr>
        <p:spPr>
          <a:xfrm>
            <a:off x="631371" y="834910"/>
            <a:ext cx="108748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a radiation interaction, a surface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loses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by emitting radiation and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gains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by absorbing radiation emitted by other surfaces. A surface experiences a net gain or a net loss of energy, depending on which quantity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of radiation heat transfer from a surface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surface area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denoted by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is expressed 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51D99C-3409-420C-B5F3-6D77FA03C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82" y="2351814"/>
            <a:ext cx="4772577" cy="1109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945A4B-BD70-1DF4-76CD-9D7514F5F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970" y="2519172"/>
            <a:ext cx="2886953" cy="1819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8F0AC5-24C4-6CFF-9F79-82EB3A969C8E}"/>
                  </a:ext>
                </a:extLst>
              </p:cNvPr>
              <p:cNvSpPr txBox="1"/>
              <p:nvPr/>
            </p:nvSpPr>
            <p:spPr>
              <a:xfrm>
                <a:off x="9027219" y="4273498"/>
                <a:ext cx="29851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8F0AC5-24C4-6CFF-9F79-82EB3A969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219" y="4273498"/>
                <a:ext cx="2985176" cy="369332"/>
              </a:xfrm>
              <a:prstGeom prst="rect">
                <a:avLst/>
              </a:prstGeom>
              <a:blipFill>
                <a:blip r:embed="rId4"/>
                <a:stretch>
                  <a:fillRect l="-2857" r="-408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C96595-2C86-BF18-C1AF-3118EE1C6AFA}"/>
                  </a:ext>
                </a:extLst>
              </p:cNvPr>
              <p:cNvSpPr txBox="1"/>
              <p:nvPr/>
            </p:nvSpPr>
            <p:spPr>
              <a:xfrm>
                <a:off x="9762869" y="4931229"/>
                <a:ext cx="1959639" cy="756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𝑏𝑖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C96595-2C86-BF18-C1AF-3118EE1C6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869" y="4931229"/>
                <a:ext cx="1959639" cy="756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F65E20C-BD86-A101-D95E-44275DF8B520}"/>
              </a:ext>
            </a:extLst>
          </p:cNvPr>
          <p:cNvSpPr txBox="1"/>
          <p:nvPr/>
        </p:nvSpPr>
        <p:spPr>
          <a:xfrm>
            <a:off x="631371" y="35264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for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8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B56BD6-A840-6C70-E648-32AA8726D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168" y="3711138"/>
            <a:ext cx="4470791" cy="7561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002B2D8-927F-4F50-7268-AE74B39B0E37}"/>
              </a:ext>
            </a:extLst>
          </p:cNvPr>
          <p:cNvSpPr txBox="1"/>
          <p:nvPr/>
        </p:nvSpPr>
        <p:spPr>
          <a:xfrm>
            <a:off x="631371" y="4458164"/>
            <a:ext cx="7957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electrical analogy to Ohm’s law, this equation can be rearranged as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C017D0-F235-A008-EF1F-3632BE66AA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6546" y="4978062"/>
            <a:ext cx="5200247" cy="15476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BF896AA-E4BE-8644-D202-49297AA28F6D}"/>
              </a:ext>
            </a:extLst>
          </p:cNvPr>
          <p:cNvSpPr txBox="1"/>
          <p:nvPr/>
        </p:nvSpPr>
        <p:spPr>
          <a:xfrm>
            <a:off x="6509658" y="5908487"/>
            <a:ext cx="2079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CF0000"/>
                </a:solidFill>
                <a:latin typeface="STIXMathJax_Main-Bold"/>
              </a:rPr>
              <a:t>surface resistance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01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3C595-1600-10E7-93BC-0C1EFD3367C1}"/>
              </a:ext>
            </a:extLst>
          </p:cNvPr>
          <p:cNvSpPr txBox="1"/>
          <p:nvPr/>
        </p:nvSpPr>
        <p:spPr>
          <a:xfrm>
            <a:off x="821865" y="141515"/>
            <a:ext cx="7059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marR="0">
              <a:spcBef>
                <a:spcPts val="805"/>
              </a:spcBef>
              <a:spcAft>
                <a:spcPts val="0"/>
              </a:spcAft>
            </a:pPr>
            <a:r>
              <a:rPr lang="en-US" sz="28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Radiation</a:t>
            </a:r>
            <a:r>
              <a:rPr lang="en-US" sz="2800" b="1" kern="0" spc="-4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exchange</a:t>
            </a:r>
            <a:r>
              <a:rPr lang="en-US" sz="2800" b="1" kern="0" spc="-1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between two</a:t>
            </a:r>
            <a:r>
              <a:rPr lang="en-US" sz="2800" b="1" kern="0" spc="-35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surfaces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DA7BB-9E20-3464-D77F-4B04180114D7}"/>
              </a:ext>
            </a:extLst>
          </p:cNvPr>
          <p:cNvSpPr txBox="1"/>
          <p:nvPr/>
        </p:nvSpPr>
        <p:spPr>
          <a:xfrm>
            <a:off x="2870716" y="6182885"/>
            <a:ext cx="4697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pace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geometrical resistance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FD6E7-C9CC-FE8E-48C1-51C39422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4" y="715326"/>
            <a:ext cx="7249887" cy="542734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086E1D6-018E-68A1-81D3-55B375717642}"/>
              </a:ext>
            </a:extLst>
          </p:cNvPr>
          <p:cNvGrpSpPr/>
          <p:nvPr/>
        </p:nvGrpSpPr>
        <p:grpSpPr>
          <a:xfrm>
            <a:off x="8621486" y="0"/>
            <a:ext cx="3570514" cy="6858000"/>
            <a:chOff x="6284164" y="280534"/>
            <a:chExt cx="2687368" cy="45942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B2B0BC4-6719-5B3E-78C6-F6FF84DF9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4164" y="280534"/>
              <a:ext cx="2687368" cy="45942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E13274-C0F2-FB18-3FD0-FD789CB93EA0}"/>
                </a:ext>
              </a:extLst>
            </p:cNvPr>
            <p:cNvSpPr/>
            <p:nvPr/>
          </p:nvSpPr>
          <p:spPr>
            <a:xfrm>
              <a:off x="7492483" y="3909527"/>
              <a:ext cx="1418254" cy="251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0467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4991EA-1C45-70C9-1E10-6A27E550C90D}"/>
              </a:ext>
            </a:extLst>
          </p:cNvPr>
          <p:cNvSpPr txBox="1"/>
          <p:nvPr/>
        </p:nvSpPr>
        <p:spPr>
          <a:xfrm>
            <a:off x="500743" y="723037"/>
            <a:ext cx="10722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-surface enclosure, the conservation of energy principle requires that the net heat transfer from surface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equal to the sum of the net heat transfers from surface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 of the enclosure. That is,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44DB6-80EF-5E41-EE12-C67E5271B912}"/>
              </a:ext>
            </a:extLst>
          </p:cNvPr>
          <p:cNvSpPr txBox="1"/>
          <p:nvPr/>
        </p:nvSpPr>
        <p:spPr>
          <a:xfrm>
            <a:off x="500743" y="170666"/>
            <a:ext cx="7059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marR="0">
              <a:spcBef>
                <a:spcPts val="805"/>
              </a:spcBef>
              <a:spcAft>
                <a:spcPts val="0"/>
              </a:spcAft>
            </a:pPr>
            <a:r>
              <a:rPr lang="en-US" sz="28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Radiation</a:t>
            </a:r>
            <a:r>
              <a:rPr lang="en-US" sz="2800" b="1" kern="0" spc="-4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exchange</a:t>
            </a:r>
            <a:r>
              <a:rPr lang="en-US" sz="2800" b="1" kern="0" spc="-1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between surfaces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3F576-1D91-0257-DA4F-8FA2517B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119" y="1981668"/>
            <a:ext cx="5736882" cy="1007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FD2281-BD30-4EFF-E33E-11F3242B6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340" y="2052609"/>
            <a:ext cx="3824660" cy="2752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848672-9C78-93D3-115F-2F4693AEE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473" y="3429000"/>
            <a:ext cx="4143305" cy="11321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A0162E-3ABA-2CB1-18ED-0CB7F6B1FB9F}"/>
              </a:ext>
            </a:extLst>
          </p:cNvPr>
          <p:cNvSpPr txBox="1"/>
          <p:nvPr/>
        </p:nvSpPr>
        <p:spPr>
          <a:xfrm>
            <a:off x="500743" y="5044621"/>
            <a:ext cx="11038114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has the electrical analogy interpretation that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 radiation flow from a surface through its surface resistance is equal to the sum of the radiation flows from that surface to all other surfaces through the corresponding space resistances.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311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FA85D-FD5A-74B2-EBED-981CF9F7C8F9}"/>
              </a:ext>
            </a:extLst>
          </p:cNvPr>
          <p:cNvSpPr txBox="1"/>
          <p:nvPr/>
        </p:nvSpPr>
        <p:spPr>
          <a:xfrm>
            <a:off x="0" y="0"/>
            <a:ext cx="5257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marR="0">
              <a:spcBef>
                <a:spcPts val="805"/>
              </a:spcBef>
              <a:spcAft>
                <a:spcPts val="0"/>
              </a:spcAft>
            </a:pPr>
            <a:r>
              <a:rPr lang="en-US" sz="20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Radiation</a:t>
            </a:r>
            <a:r>
              <a:rPr lang="en-US" sz="2000" b="1" kern="0" spc="-4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exchange</a:t>
            </a:r>
            <a:r>
              <a:rPr lang="en-US" sz="2000" b="1" kern="0" spc="-1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between surfaces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327ACB-CC49-A051-821F-1054EFC3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0" y="653477"/>
            <a:ext cx="4762357" cy="3568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E9F97D-0EE9-014B-C26F-54738873ABCE}"/>
              </a:ext>
            </a:extLst>
          </p:cNvPr>
          <p:cNvSpPr txBox="1"/>
          <p:nvPr/>
        </p:nvSpPr>
        <p:spPr>
          <a:xfrm>
            <a:off x="88640" y="312601"/>
            <a:ext cx="11986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marR="241300">
              <a:spcBef>
                <a:spcPts val="545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spc="3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total</a:t>
            </a:r>
            <a:r>
              <a:rPr lang="en-US" sz="2400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rate</a:t>
            </a:r>
            <a:r>
              <a:rPr lang="en-US" sz="2400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2400" spc="3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z="2400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radiation</a:t>
            </a:r>
            <a:r>
              <a:rPr lang="en-US" sz="2400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reaches</a:t>
            </a:r>
            <a:r>
              <a:rPr lang="en-US" sz="2400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</a:t>
            </a:r>
            <a:r>
              <a:rPr lang="en-US" sz="2400" spc="3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b="1" spc="3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2400" spc="2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</a:t>
            </a:r>
            <a:r>
              <a:rPr lang="en-US" sz="2400" spc="-4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surfaces, including</a:t>
            </a:r>
            <a:r>
              <a:rPr lang="en-US" sz="24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F5CE6-9602-2CAA-64C1-F819F205D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93" y="4222742"/>
            <a:ext cx="4758616" cy="232265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793CDD5-7B03-EA71-FE95-47E4878EF485}"/>
              </a:ext>
            </a:extLst>
          </p:cNvPr>
          <p:cNvGrpSpPr/>
          <p:nvPr/>
        </p:nvGrpSpPr>
        <p:grpSpPr>
          <a:xfrm>
            <a:off x="8911655" y="1297846"/>
            <a:ext cx="3191704" cy="3497576"/>
            <a:chOff x="5551084" y="1134561"/>
            <a:chExt cx="3191704" cy="349757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F80DDDB-D7F9-310E-CB5B-F2483462904D}"/>
                </a:ext>
              </a:extLst>
            </p:cNvPr>
            <p:cNvGrpSpPr/>
            <p:nvPr/>
          </p:nvGrpSpPr>
          <p:grpSpPr>
            <a:xfrm>
              <a:off x="5551084" y="1134561"/>
              <a:ext cx="3191704" cy="3497576"/>
              <a:chOff x="5900976" y="224618"/>
              <a:chExt cx="3191704" cy="3497576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CA2A822-797F-9A7A-3CCB-9684E9B6A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0976" y="224618"/>
                <a:ext cx="3191704" cy="349757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034998-912F-DBE0-AF11-EF7E4BB53C74}"/>
                  </a:ext>
                </a:extLst>
              </p:cNvPr>
              <p:cNvSpPr txBox="1"/>
              <p:nvPr/>
            </p:nvSpPr>
            <p:spPr>
              <a:xfrm>
                <a:off x="7014288" y="918849"/>
                <a:ext cx="36622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q</a:t>
                </a:r>
                <a:r>
                  <a:rPr lang="en-US" sz="18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endParaRPr lang="en-US" dirty="0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DBDBCA-02C1-C961-C58E-9A6D0D37BA17}"/>
                </a:ext>
              </a:extLst>
            </p:cNvPr>
            <p:cNvSpPr/>
            <p:nvPr/>
          </p:nvSpPr>
          <p:spPr>
            <a:xfrm>
              <a:off x="7352521" y="3331029"/>
              <a:ext cx="1362274" cy="2985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A0F4746-3E80-4EAA-CA17-7480918952B5}"/>
              </a:ext>
            </a:extLst>
          </p:cNvPr>
          <p:cNvSpPr txBox="1"/>
          <p:nvPr/>
        </p:nvSpPr>
        <p:spPr>
          <a:xfrm>
            <a:off x="380221" y="2176743"/>
            <a:ext cx="4253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AEF49-F800-6DD6-0A7A-C07E4D924EDC}"/>
              </a:ext>
            </a:extLst>
          </p:cNvPr>
          <p:cNvSpPr txBox="1"/>
          <p:nvPr/>
        </p:nvSpPr>
        <p:spPr>
          <a:xfrm>
            <a:off x="380221" y="6019857"/>
            <a:ext cx="4253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6AA2A0-D82F-4553-9B8A-E7A1EA78A70E}"/>
              </a:ext>
            </a:extLst>
          </p:cNvPr>
          <p:cNvSpPr txBox="1"/>
          <p:nvPr/>
        </p:nvSpPr>
        <p:spPr>
          <a:xfrm>
            <a:off x="1196649" y="6019857"/>
            <a:ext cx="4253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Q</a:t>
            </a:r>
            <a:r>
              <a:rPr lang="en-US" baseline="-25000" dirty="0" err="1"/>
              <a:t>ij</a:t>
            </a:r>
            <a:endParaRPr lang="en-US" baseline="-25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BB729E-56E8-FA81-FCE8-6F0DE8BC1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2" y="5009345"/>
            <a:ext cx="5561048" cy="181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31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95CCAF-5F89-6E72-ECE7-886CCBC8DC7A}"/>
              </a:ext>
            </a:extLst>
          </p:cNvPr>
          <p:cNvSpPr txBox="1"/>
          <p:nvPr/>
        </p:nvSpPr>
        <p:spPr>
          <a:xfrm>
            <a:off x="76527" y="0"/>
            <a:ext cx="64474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Radiation Heat Transfer in Two-Surface Enclosures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EEE07-7A1B-6C2E-1D63-EBB1EFCA9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61" y="857055"/>
            <a:ext cx="1943371" cy="419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1385E1-A6A9-1E1E-59B0-4557148757E0}"/>
              </a:ext>
            </a:extLst>
          </p:cNvPr>
          <p:cNvSpPr txBox="1"/>
          <p:nvPr/>
        </p:nvSpPr>
        <p:spPr>
          <a:xfrm>
            <a:off x="76528" y="333073"/>
            <a:ext cx="9916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021"/>
                </a:solidFill>
                <a:effectLst/>
                <a:latin typeface="Times-Roman"/>
              </a:rPr>
              <a:t>There are only two surfaces in the enclosure, and thus we can write</a:t>
            </a:r>
            <a:r>
              <a:rPr lang="en-US" sz="24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BEB1C-EAB7-0D6D-8388-D86039CFCE02}"/>
              </a:ext>
            </a:extLst>
          </p:cNvPr>
          <p:cNvSpPr txBox="1"/>
          <p:nvPr/>
        </p:nvSpPr>
        <p:spPr>
          <a:xfrm>
            <a:off x="88617" y="1383177"/>
            <a:ext cx="89486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242021"/>
                </a:solidFill>
                <a:effectLst/>
                <a:latin typeface="Times-Roman"/>
              </a:rPr>
              <a:t>The radiation network of this two-surface enclosure consists of two surface resistances and one space resistance</a:t>
            </a:r>
            <a:r>
              <a:rPr lang="en-US" sz="24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D88F8-FD06-5B01-3D0A-FD861C13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2" y="2519269"/>
            <a:ext cx="4725059" cy="25911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1DAE827-2D5E-F15E-BF36-2B30E7F9CD93}"/>
              </a:ext>
            </a:extLst>
          </p:cNvPr>
          <p:cNvGrpSpPr/>
          <p:nvPr/>
        </p:nvGrpSpPr>
        <p:grpSpPr>
          <a:xfrm>
            <a:off x="8902292" y="656238"/>
            <a:ext cx="3289708" cy="4059016"/>
            <a:chOff x="5854292" y="559637"/>
            <a:chExt cx="3289708" cy="405901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FA50DA-9597-EEBA-C697-70E27D655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4292" y="559637"/>
              <a:ext cx="3289708" cy="40590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B5CFEF-9F17-24B0-516E-ED7F0D0F4CE8}"/>
                </a:ext>
              </a:extLst>
            </p:cNvPr>
            <p:cNvSpPr/>
            <p:nvPr/>
          </p:nvSpPr>
          <p:spPr>
            <a:xfrm>
              <a:off x="7837714" y="3592286"/>
              <a:ext cx="1222310" cy="2519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9917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C36692-459E-1003-5540-54C4AFB93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70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D1189C-23E8-DE1F-9946-CA640171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28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E8A47A-9AEF-5FBB-6BA3-C164CCAF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98" y="480593"/>
            <a:ext cx="8490856" cy="49987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907C3C-0D25-A547-45B3-114743C60791}"/>
              </a:ext>
            </a:extLst>
          </p:cNvPr>
          <p:cNvSpPr txBox="1"/>
          <p:nvPr/>
        </p:nvSpPr>
        <p:spPr>
          <a:xfrm>
            <a:off x="808649" y="5672510"/>
            <a:ext cx="106866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242021"/>
                </a:solidFill>
                <a:latin typeface="Times-Roman"/>
              </a:rPr>
              <a:t>W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e need to find are the radiosities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J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1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,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J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2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, and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J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3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. The three equations for the determination of these three unknowns are obtained from the requirement that </a:t>
            </a:r>
            <a:r>
              <a:rPr lang="en-US" sz="1800" b="1" i="1" dirty="0">
                <a:solidFill>
                  <a:srgbClr val="242021"/>
                </a:solidFill>
                <a:effectLst/>
                <a:latin typeface="Times-Italic"/>
              </a:rPr>
              <a:t>the algebraic sum of the currents (net radiation heat transfer) at each node must equal zero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.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That is,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401F6-0C0A-1280-0425-8B935743E31A}"/>
              </a:ext>
            </a:extLst>
          </p:cNvPr>
          <p:cNvSpPr txBox="1"/>
          <p:nvPr/>
        </p:nvSpPr>
        <p:spPr>
          <a:xfrm>
            <a:off x="808649" y="80483"/>
            <a:ext cx="62141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Radiation Heat Transfer in Three-Surface Enclosures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84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81D339-612E-251F-D5B1-284E74AC2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55" y="200807"/>
            <a:ext cx="6808433" cy="17893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72C4A6-FD8F-9D68-9718-0C563507F87F}"/>
              </a:ext>
            </a:extLst>
          </p:cNvPr>
          <p:cNvSpPr txBox="1"/>
          <p:nvPr/>
        </p:nvSpPr>
        <p:spPr>
          <a:xfrm>
            <a:off x="1110343" y="2307589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Once the radiosities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J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1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,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J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2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, and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J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3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are available, the net rate of radiation heat transfers at each surface can be determined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93211-9117-D790-5A0D-347A66C5264D}"/>
              </a:ext>
            </a:extLst>
          </p:cNvPr>
          <p:cNvSpPr txBox="1"/>
          <p:nvPr/>
        </p:nvSpPr>
        <p:spPr>
          <a:xfrm>
            <a:off x="890279" y="2830805"/>
            <a:ext cx="11124447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 set of equations above simplify further if one or more surfaces are “special” in some way. For example,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for a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black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or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reradiating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surface.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for a reradiating surface. 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021"/>
                </a:solidFill>
                <a:latin typeface="Times-Roman"/>
              </a:rPr>
              <a:t>W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hen the net rate of radiation heat transfer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Q</a:t>
            </a:r>
            <a:r>
              <a:rPr lang="en-US" sz="800" b="0" i="1" dirty="0">
                <a:solidFill>
                  <a:srgbClr val="242021"/>
                </a:solidFill>
                <a:effectLst/>
                <a:latin typeface="Times-Italic"/>
              </a:rPr>
              <a:t>i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is specified at surface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Times-Italic"/>
              </a:rPr>
              <a:t>i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instead of the temperature, the term                     should be replaced by the specified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Q</a:t>
            </a:r>
            <a:r>
              <a:rPr lang="en-US" sz="800" b="0" i="1" dirty="0">
                <a:solidFill>
                  <a:srgbClr val="242021"/>
                </a:solidFill>
                <a:effectLst/>
                <a:latin typeface="Times-Italic"/>
              </a:rPr>
              <a:t>i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.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EE6A3-CA69-E320-DA52-3228D0584E46}"/>
              </a:ext>
            </a:extLst>
          </p:cNvPr>
          <p:cNvSpPr txBox="1"/>
          <p:nvPr/>
        </p:nvSpPr>
        <p:spPr>
          <a:xfrm>
            <a:off x="890279" y="4625519"/>
            <a:ext cx="1112444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surfaces encountered in numerous practical heat transfer applications are modeled as being </a:t>
            </a:r>
            <a:r>
              <a:rPr lang="en-US" sz="1800" b="1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adiabatic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their back sides are well insulated and the net heat transfer through them is zero. When the convection effects on the front (heat transfer) side of such a surface is negligible and steady-state conditions are reached, the surface must lose as much radiation energy as it gains, and thus </a:t>
            </a:r>
            <a:r>
              <a:rPr lang="en-US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0" i="1" baseline="-2500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 such cases, the surface is said to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reradiate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the radiation energy it receives, and such a surface is called a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reradiating surface.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0124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27FA3-4791-ECED-850F-53BB9B3F6810}"/>
              </a:ext>
            </a:extLst>
          </p:cNvPr>
          <p:cNvSpPr txBox="1"/>
          <p:nvPr/>
        </p:nvSpPr>
        <p:spPr>
          <a:xfrm>
            <a:off x="478971" y="56652"/>
            <a:ext cx="5113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Radiation Shields and The Radiation Effect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CD05F-12AF-04F0-45C3-86115ABDD355}"/>
              </a:ext>
            </a:extLst>
          </p:cNvPr>
          <p:cNvSpPr txBox="1"/>
          <p:nvPr/>
        </p:nvSpPr>
        <p:spPr>
          <a:xfrm>
            <a:off x="478971" y="636171"/>
            <a:ext cx="1117963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Radiation heat transfer between two surfaces can be reduced greatly by inserting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Roman"/>
              </a:rPr>
              <a:t>a thin, high-reflectivity (low-emissivity)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 sheet of material between the two surfaces. 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Such highly reflective thin plates or shells are called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Bold"/>
              </a:rPr>
              <a:t>radiation shields. 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 role of the radiation shield is to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Roman"/>
              </a:rPr>
              <a:t>reduce the rate of radiation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 heat transfer by placing additional resistances in the path of radiation heat flow. 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 lower the emissivity of the shield, the higher the resistance</a:t>
            </a:r>
            <a:r>
              <a:rPr lang="en-US" dirty="0"/>
              <a:t> </a:t>
            </a:r>
            <a:endParaRPr lang="en-US" sz="1800" b="1" i="0" dirty="0">
              <a:solidFill>
                <a:srgbClr val="242021"/>
              </a:solidFill>
              <a:effectLst/>
              <a:latin typeface="Times-Bold"/>
            </a:endParaRP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Multilayer radiation shields constructed of about 20 sheets per cm thickness separated by evacuated space are commonly used in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Roman"/>
              </a:rPr>
              <a:t>cryogenic and space applications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. 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Radiation shields are also used in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Times-Roman"/>
              </a:rPr>
              <a:t>temperature measurements of fluids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to reduce the error caused by the radiation effect when the temperature sensor is exposed to surfaces that are much hotter or colder than the fluid itself.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3E780-6B8D-C05E-3050-7DE5A7FE3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948" y="4478121"/>
            <a:ext cx="4266103" cy="214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71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8B894D-C589-04A3-E7DB-0565328AA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83" y="498060"/>
            <a:ext cx="4950227" cy="24935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532078-9E53-BE80-E6E1-3FCF56430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97" y="207646"/>
            <a:ext cx="2772162" cy="1057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1DFFE2-86F3-AF27-6F48-0DCC358EF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43" y="3107951"/>
            <a:ext cx="7563906" cy="1076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6475F-3DF7-FBEE-B3DD-04D727044FFB}"/>
              </a:ext>
            </a:extLst>
          </p:cNvPr>
          <p:cNvSpPr txBox="1"/>
          <p:nvPr/>
        </p:nvSpPr>
        <p:spPr>
          <a:xfrm>
            <a:off x="1262743" y="1349656"/>
            <a:ext cx="4114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Now consider a radiation shield placed between these two plates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C861F-50E1-0610-A307-7BBA3DB6069B}"/>
              </a:ext>
            </a:extLst>
          </p:cNvPr>
          <p:cNvSpPr txBox="1"/>
          <p:nvPr/>
        </p:nvSpPr>
        <p:spPr>
          <a:xfrm>
            <a:off x="1262741" y="1953371"/>
            <a:ext cx="41147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Note that the emissivity of different surfaces of the shield may be different. The resistances are connected in series, and thus the rate of radiation heat transfer is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9A679-6878-0446-A692-ECF2679F45CE}"/>
              </a:ext>
            </a:extLst>
          </p:cNvPr>
          <p:cNvSpPr txBox="1"/>
          <p:nvPr/>
        </p:nvSpPr>
        <p:spPr>
          <a:xfrm>
            <a:off x="1253406" y="4323613"/>
            <a:ext cx="907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Noting that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F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13 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athematicalPi-One"/>
              </a:rPr>
              <a:t>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F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23 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athematicalPi-One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1 and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A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1 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A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2 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A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-Roman"/>
              </a:rPr>
              <a:t>3 </a:t>
            </a: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A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for infinite parallel plates, Eq. 12–42 simplifies to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597EF4-2543-2F8B-D4EF-FD4B819D9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078" y="4752769"/>
            <a:ext cx="6239746" cy="9621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8AAB4-1D78-F0BD-36B0-85FCE14FC618}"/>
              </a:ext>
            </a:extLst>
          </p:cNvPr>
          <p:cNvSpPr txBox="1"/>
          <p:nvPr/>
        </p:nvSpPr>
        <p:spPr>
          <a:xfrm>
            <a:off x="6501883" y="5752861"/>
            <a:ext cx="242129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Additional resistance to radiation introduced by the shield</a:t>
            </a:r>
            <a:r>
              <a:rPr lang="en-US" dirty="0"/>
              <a:t> 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CBD5501-1082-C3AA-4230-43DDF6BED8A3}"/>
              </a:ext>
            </a:extLst>
          </p:cNvPr>
          <p:cNvCxnSpPr>
            <a:endCxn id="9" idx="1"/>
          </p:cNvCxnSpPr>
          <p:nvPr/>
        </p:nvCxnSpPr>
        <p:spPr>
          <a:xfrm>
            <a:off x="5044696" y="5752861"/>
            <a:ext cx="1457187" cy="461665"/>
          </a:xfrm>
          <a:prstGeom prst="bentConnector3">
            <a:avLst>
              <a:gd name="adj1" fmla="val 123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408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06AEA-2ECA-0658-08AE-51C060E53F32}"/>
              </a:ext>
            </a:extLst>
          </p:cNvPr>
          <p:cNvSpPr txBox="1"/>
          <p:nvPr/>
        </p:nvSpPr>
        <p:spPr>
          <a:xfrm>
            <a:off x="1524000" y="617995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 appearance of the equation above suggests that parallel plates involving multiple radiation shields can be handled by adding a group of terms like those in the second set of parentheses to the denominator for each radiation shield. Then the radiation heat transfer through large parallel plates separated by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Times-Italic"/>
              </a:rPr>
              <a:t>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radiation shields becomes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2EBA56-2BC8-89CF-3562-CBB97658F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244" y="1713831"/>
            <a:ext cx="7478169" cy="13432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5AF24E-4CE0-C349-D5B3-E77F8BE9B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48" y="3112961"/>
            <a:ext cx="7346302" cy="1521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734E0-D6FF-BAB9-E660-222808CFE755}"/>
              </a:ext>
            </a:extLst>
          </p:cNvPr>
          <p:cNvSpPr txBox="1"/>
          <p:nvPr/>
        </p:nvSpPr>
        <p:spPr>
          <a:xfrm>
            <a:off x="1539348" y="4610182"/>
            <a:ext cx="9113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Therefore, when all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Times-Roman"/>
              </a:rPr>
              <a:t>emissivities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 are equal, 1 shield reduces the rate of radiation heat transfer to one-half, 9 shields reduce it to one-tenth, and 19 shields reduce it to one-twentieth (or 5 percent) of what it was when there were no shields.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883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DEB418-5B81-A149-AC38-C189D113E3F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4523717" cy="41276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41385E-E656-022E-63B5-018548804BE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127672"/>
            <a:ext cx="4523716" cy="5643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0F8211-EAA5-B6B0-354C-789D5CA0F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3717" y="1"/>
            <a:ext cx="7668284" cy="685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17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B81F66-EA70-BACE-2E8E-930DBA8D80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5952254" cy="15471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F4A9AE-663A-2E59-CD96-8DA1A0299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648" y="1547129"/>
            <a:ext cx="7414352" cy="53315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037D45-0B35-DBCF-A747-2070DC380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64" y="2212617"/>
            <a:ext cx="3209719" cy="394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3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1E3A82-6A7B-5922-7181-F33358B2F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0693" cy="36962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2FA703-8B4D-0C73-6DFE-BC72A2ED3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693" y="1862158"/>
            <a:ext cx="5971307" cy="499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4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2037</Words>
  <Application>Microsoft Office PowerPoint</Application>
  <PresentationFormat>Widescreen</PresentationFormat>
  <Paragraphs>110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Arial</vt:lpstr>
      <vt:lpstr>Calibri</vt:lpstr>
      <vt:lpstr>Calibri Light</vt:lpstr>
      <vt:lpstr>Cambria</vt:lpstr>
      <vt:lpstr>Cambria Math</vt:lpstr>
      <vt:lpstr>MathematicalPi-One</vt:lpstr>
      <vt:lpstr>STIXMathJax_Main-Bold</vt:lpstr>
      <vt:lpstr>Symbol</vt:lpstr>
      <vt:lpstr>Times New Roman</vt:lpstr>
      <vt:lpstr>Times-Bold</vt:lpstr>
      <vt:lpstr>Times-Italic</vt:lpstr>
      <vt:lpstr>Times-Roman</vt:lpstr>
      <vt:lpstr>Office Theme</vt:lpstr>
      <vt:lpstr>Radiation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afnan hasan</dc:creator>
  <cp:lastModifiedBy>afnan hasan</cp:lastModifiedBy>
  <cp:revision>29</cp:revision>
  <dcterms:created xsi:type="dcterms:W3CDTF">2026-04-05T16:54:13Z</dcterms:created>
  <dcterms:modified xsi:type="dcterms:W3CDTF">2026-04-20T18:46:53Z</dcterms:modified>
</cp:coreProperties>
</file>